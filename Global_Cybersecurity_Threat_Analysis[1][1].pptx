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1.svg" ContentType="image/svg+xml"/>
  <Override PartName="/ppt/media/image14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8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65" r:id="rId5"/>
    <p:sldId id="258" r:id="rId6"/>
    <p:sldId id="259" r:id="rId7"/>
    <p:sldId id="260" r:id="rId8"/>
    <p:sldId id="266" r:id="rId9"/>
    <p:sldId id="267" r:id="rId10"/>
    <p:sldId id="268" r:id="rId11"/>
    <p:sldId id="269" r:id="rId12"/>
    <p:sldId id="270" r:id="rId13"/>
    <p:sldId id="261" r:id="rId14"/>
    <p:sldId id="262" r:id="rId15"/>
    <p:sldId id="263" r:id="rId16"/>
    <p:sldId id="271" r:id="rId17"/>
    <p:sldId id="264" r:id="rId18"/>
  </p:sldIdLst>
  <p:sldSz cx="18288000" cy="10287000"/>
  <p:notesSz cx="6858000" cy="9144000"/>
  <p:embeddedFontLst>
    <p:embeddedFont>
      <p:font typeface="Montserrat Bold" panose="00000800000000000000"/>
      <p:bold r:id="rId22"/>
    </p:embeddedFont>
    <p:embeddedFont>
      <p:font typeface="Montserrat" panose="00000500000000000000"/>
      <p:regular r:id="rId23"/>
      <p:bold r:id="rId24"/>
      <p:italic r:id="rId25"/>
      <p:boldItalic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  <p:embeddedFont>
      <p:font typeface="Aldhabi" panose="01000000000000000000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0" d="100"/>
          <a:sy n="50" d="100"/>
        </p:scale>
        <p:origin x="946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font" Target="fonts/font14.fntdata"/><Relationship Id="rId34" Type="http://schemas.openxmlformats.org/officeDocument/2006/relationships/font" Target="fonts/font13.fntdata"/><Relationship Id="rId33" Type="http://schemas.openxmlformats.org/officeDocument/2006/relationships/font" Target="fonts/font12.fntdata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jpe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5.svg"/><Relationship Id="rId7" Type="http://schemas.openxmlformats.org/officeDocument/2006/relationships/image" Target="../media/image34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image" Target="../media/image36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944399" y="0"/>
            <a:ext cx="13343601" cy="10287000"/>
            <a:chOff x="0" y="0"/>
            <a:chExt cx="206727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67273" cy="1593725"/>
            </a:xfrm>
            <a:custGeom>
              <a:avLst/>
              <a:gdLst/>
              <a:ahLst/>
              <a:cxnLst/>
              <a:rect l="l" t="t" r="r" b="b"/>
              <a:pathLst>
                <a:path w="2067273" h="1593725">
                  <a:moveTo>
                    <a:pt x="0" y="0"/>
                  </a:moveTo>
                  <a:lnTo>
                    <a:pt x="2067273" y="0"/>
                  </a:lnTo>
                  <a:lnTo>
                    <a:pt x="206727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1"/>
              <a:stretch>
                <a:fillRect r="-3705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6667500"/>
            <a:ext cx="8756885" cy="809502"/>
            <a:chOff x="0" y="0"/>
            <a:chExt cx="323259" cy="298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3259" cy="29883"/>
            </a:xfrm>
            <a:custGeom>
              <a:avLst/>
              <a:gdLst/>
              <a:ahLst/>
              <a:cxnLst/>
              <a:rect l="l" t="t" r="r" b="b"/>
              <a:pathLst>
                <a:path w="323259" h="29883">
                  <a:moveTo>
                    <a:pt x="0" y="0"/>
                  </a:moveTo>
                  <a:lnTo>
                    <a:pt x="323259" y="0"/>
                  </a:lnTo>
                  <a:lnTo>
                    <a:pt x="323259" y="29883"/>
                  </a:lnTo>
                  <a:lnTo>
                    <a:pt x="0" y="29883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23259" cy="67983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3219573"/>
            <a:ext cx="13140623" cy="3305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00"/>
              </a:lnSpc>
            </a:pPr>
            <a:r>
              <a:rPr lang="en-US" sz="140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CYBER SECURITY</a:t>
            </a:r>
            <a:endParaRPr lang="en-US" sz="140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67951" y="6843651"/>
            <a:ext cx="998546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Global Threat Analysis (2016-2024)</a:t>
            </a:r>
            <a:endParaRPr lang="en-US" sz="30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ctr">
              <a:lnSpc>
                <a:spcPts val="3600"/>
              </a:lnSpc>
            </a:pPr>
            <a:endParaRPr lang="en-US" sz="30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-685669" y="-2094609"/>
            <a:ext cx="5128484" cy="4867398"/>
          </a:xfrm>
          <a:custGeom>
            <a:avLst/>
            <a:gdLst/>
            <a:ahLst/>
            <a:cxnLst/>
            <a:rect l="l" t="t" r="r" b="b"/>
            <a:pathLst>
              <a:path w="5128484" h="4867398">
                <a:moveTo>
                  <a:pt x="0" y="0"/>
                </a:moveTo>
                <a:lnTo>
                  <a:pt x="5128484" y="0"/>
                </a:lnTo>
                <a:lnTo>
                  <a:pt x="5128484" y="4867398"/>
                </a:lnTo>
                <a:lnTo>
                  <a:pt x="0" y="4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536751" cy="8627843"/>
            <a:chOff x="0" y="0"/>
            <a:chExt cx="812800" cy="9304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930469"/>
            </a:xfrm>
            <a:custGeom>
              <a:avLst/>
              <a:gdLst/>
              <a:ahLst/>
              <a:cxnLst/>
              <a:rect l="l" t="t" r="r" b="b"/>
              <a:pathLst>
                <a:path w="812800" h="930469">
                  <a:moveTo>
                    <a:pt x="0" y="0"/>
                  </a:moveTo>
                  <a:lnTo>
                    <a:pt x="812800" y="0"/>
                  </a:lnTo>
                  <a:lnTo>
                    <a:pt x="812800" y="930469"/>
                  </a:lnTo>
                  <a:lnTo>
                    <a:pt x="0" y="930469"/>
                  </a:lnTo>
                  <a:close/>
                </a:path>
              </a:pathLst>
            </a:custGeom>
            <a:blipFill>
              <a:blip r:embed="rId1"/>
              <a:stretch>
                <a:fillRect l="-51757" r="-5175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09600" y="8954238"/>
            <a:ext cx="7277950" cy="1227409"/>
            <a:chOff x="0" y="0"/>
            <a:chExt cx="268736" cy="453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8736" cy="45322"/>
            </a:xfrm>
            <a:custGeom>
              <a:avLst/>
              <a:gdLst/>
              <a:ahLst/>
              <a:cxnLst/>
              <a:rect l="l" t="t" r="r" b="b"/>
              <a:pathLst>
                <a:path w="268736" h="45322">
                  <a:moveTo>
                    <a:pt x="0" y="0"/>
                  </a:moveTo>
                  <a:lnTo>
                    <a:pt x="268736" y="0"/>
                  </a:lnTo>
                  <a:lnTo>
                    <a:pt x="268736" y="45322"/>
                  </a:lnTo>
                  <a:lnTo>
                    <a:pt x="0" y="45322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68736" cy="83422"/>
            </a:xfrm>
            <a:prstGeom prst="rect">
              <a:avLst/>
            </a:prstGeom>
          </p:spPr>
          <p:txBody>
            <a:bodyPr lIns="362344" tIns="362344" rIns="362344" bIns="362344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39529" y="9611810"/>
            <a:ext cx="6218093" cy="188815"/>
            <a:chOff x="0" y="0"/>
            <a:chExt cx="229601" cy="69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9601" cy="6972"/>
            </a:xfrm>
            <a:custGeom>
              <a:avLst/>
              <a:gdLst/>
              <a:ahLst/>
              <a:cxnLst/>
              <a:rect l="l" t="t" r="r" b="b"/>
              <a:pathLst>
                <a:path w="229601" h="6972">
                  <a:moveTo>
                    <a:pt x="0" y="0"/>
                  </a:moveTo>
                  <a:lnTo>
                    <a:pt x="229601" y="0"/>
                  </a:lnTo>
                  <a:lnTo>
                    <a:pt x="229601" y="6972"/>
                  </a:lnTo>
                  <a:lnTo>
                    <a:pt x="0" y="69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9601" cy="45072"/>
            </a:xfrm>
            <a:prstGeom prst="rect">
              <a:avLst/>
            </a:prstGeom>
          </p:spPr>
          <p:txBody>
            <a:bodyPr lIns="362344" tIns="362344" rIns="362344" bIns="362344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39529" y="9609110"/>
            <a:ext cx="5375515" cy="203008"/>
            <a:chOff x="0" y="0"/>
            <a:chExt cx="198489" cy="74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8489" cy="7496"/>
            </a:xfrm>
            <a:custGeom>
              <a:avLst/>
              <a:gdLst/>
              <a:ahLst/>
              <a:cxnLst/>
              <a:rect l="l" t="t" r="r" b="b"/>
              <a:pathLst>
                <a:path w="198489" h="7496">
                  <a:moveTo>
                    <a:pt x="0" y="0"/>
                  </a:moveTo>
                  <a:lnTo>
                    <a:pt x="198489" y="0"/>
                  </a:lnTo>
                  <a:lnTo>
                    <a:pt x="198489" y="7496"/>
                  </a:lnTo>
                  <a:lnTo>
                    <a:pt x="0" y="7496"/>
                  </a:lnTo>
                  <a:close/>
                </a:path>
              </a:pathLst>
            </a:custGeom>
            <a:solidFill>
              <a:srgbClr val="02060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98489" cy="45596"/>
            </a:xfrm>
            <a:prstGeom prst="rect">
              <a:avLst/>
            </a:prstGeom>
          </p:spPr>
          <p:txBody>
            <a:bodyPr lIns="362344" tIns="362344" rIns="362344" bIns="362344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161237" y="8491625"/>
            <a:ext cx="4298823" cy="247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0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Evolution of Attack</a:t>
            </a:r>
            <a:endParaRPr lang="en-US" sz="20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438352" y="9140181"/>
            <a:ext cx="1919269" cy="247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20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90%</a:t>
            </a:r>
            <a:endParaRPr lang="en-US" sz="20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5" name="Freeform 15"/>
          <p:cNvSpPr/>
          <p:nvPr/>
        </p:nvSpPr>
        <p:spPr>
          <a:xfrm rot="-5400362">
            <a:off x="11267469" y="370"/>
            <a:ext cx="7020416" cy="7020416"/>
          </a:xfrm>
          <a:custGeom>
            <a:avLst/>
            <a:gdLst/>
            <a:ahLst/>
            <a:cxnLst/>
            <a:rect l="l" t="t" r="r" b="b"/>
            <a:pathLst>
              <a:path w="7020416" h="7020416">
                <a:moveTo>
                  <a:pt x="0" y="0"/>
                </a:moveTo>
                <a:lnTo>
                  <a:pt x="7020416" y="0"/>
                </a:lnTo>
                <a:lnTo>
                  <a:pt x="7020416" y="7020416"/>
                </a:lnTo>
                <a:lnTo>
                  <a:pt x="0" y="70204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460060" y="1602355"/>
            <a:ext cx="8893917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70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PROJECT</a:t>
            </a:r>
            <a:endParaRPr lang="en-US" sz="70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460060" y="2886239"/>
            <a:ext cx="7641081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7000" b="1">
                <a:solidFill>
                  <a:srgbClr val="37B4B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INTRODUCTION</a:t>
            </a:r>
            <a:endParaRPr lang="en-US" sz="7000" b="1">
              <a:solidFill>
                <a:srgbClr val="37B4B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887550" y="3870836"/>
            <a:ext cx="10007124" cy="6709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6765" lvl="1" indent="-514350">
              <a:lnSpc>
                <a:spcPts val="4360"/>
              </a:lnSpc>
              <a:buFont typeface="Wingdings" panose="05000000000000000000" pitchFamily="2" charset="2"/>
              <a:buChar char="q"/>
            </a:pPr>
            <a:r>
              <a:rPr lang="en-US" sz="2520" b="1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Objectives</a:t>
            </a:r>
            <a:br>
              <a:rPr lang="ar-EG" sz="2520" b="1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</a:br>
            <a:r>
              <a:rPr lang="ar-EG" sz="2520" b="1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-</a:t>
            </a:r>
            <a:r>
              <a:rPr lang="en-US" sz="2520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Transform reactive security → proactive defense (pattern recognition)</a:t>
            </a:r>
            <a:endParaRPr lang="ar-EG" sz="2520" b="1" spc="118" dirty="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786765" lvl="1" indent="-514350">
              <a:lnSpc>
                <a:spcPts val="4360"/>
              </a:lnSpc>
              <a:buFont typeface="Wingdings" panose="05000000000000000000" pitchFamily="2" charset="2"/>
              <a:buChar char="q"/>
            </a:pPr>
            <a:r>
              <a:rPr lang="en-US" sz="2520" b="1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Business Value</a:t>
            </a:r>
            <a:br>
              <a:rPr lang="ar-EG" sz="2520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</a:br>
            <a:r>
              <a:rPr lang="ar-EG" sz="2520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-</a:t>
            </a:r>
            <a:r>
              <a:rPr lang="en-US" sz="2520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Security = strategic investment, not cost</a:t>
            </a:r>
            <a:endParaRPr lang="ar-EG" sz="2520" spc="118" dirty="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marL="786765" lvl="1" indent="-514350">
              <a:lnSpc>
                <a:spcPts val="4360"/>
              </a:lnSpc>
              <a:buFont typeface="Wingdings" panose="05000000000000000000" pitchFamily="2" charset="2"/>
              <a:buChar char="q"/>
            </a:pPr>
            <a:r>
              <a:rPr lang="en-US" sz="2520" b="1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Problem</a:t>
            </a:r>
            <a:br>
              <a:rPr lang="ar-EG" sz="2520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</a:br>
            <a:r>
              <a:rPr lang="ar-EG" sz="2520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-</a:t>
            </a:r>
            <a:r>
              <a:rPr lang="en-US" sz="2520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Hard to make strategic decision</a:t>
            </a:r>
            <a:br>
              <a:rPr lang="ar-EG" sz="2520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</a:br>
            <a:r>
              <a:rPr lang="ar-EG" sz="2520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-</a:t>
            </a:r>
            <a:r>
              <a:rPr lang="en-US" sz="2520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Lack of understanding: threats, attack vectors, defense</a:t>
            </a:r>
            <a:br>
              <a:rPr lang="ar-EG" sz="2520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</a:br>
            <a:br>
              <a:rPr lang="ar-EG" sz="2520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</a:br>
            <a:br>
              <a:rPr lang="ar-EG" sz="2520" spc="118" dirty="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</a:br>
            <a:endParaRPr lang="en-US" sz="2520" spc="118" dirty="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25400" y="0"/>
            <a:ext cx="6262550" cy="6262550"/>
          </a:xfrm>
          <a:custGeom>
            <a:avLst/>
            <a:gdLst/>
            <a:ahLst/>
            <a:cxnLst/>
            <a:rect l="l" t="t" r="r" b="b"/>
            <a:pathLst>
              <a:path w="6262550" h="6262550">
                <a:moveTo>
                  <a:pt x="0" y="0"/>
                </a:moveTo>
                <a:lnTo>
                  <a:pt x="6262550" y="0"/>
                </a:lnTo>
                <a:lnTo>
                  <a:pt x="6262550" y="6262550"/>
                </a:lnTo>
                <a:lnTo>
                  <a:pt x="0" y="62625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4648200" y="839114"/>
            <a:ext cx="10538379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 DATA OVERVIEW</a:t>
            </a:r>
            <a:endParaRPr lang="en-US" sz="7000" b="1" dirty="0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-3124200" y="5600700"/>
            <a:ext cx="12115800" cy="3939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114800" lvl="8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</a:rPr>
              <a:t>Total Records:</a:t>
            </a:r>
            <a:r>
              <a:rPr lang="en-US" sz="3200" dirty="0">
                <a:solidFill>
                  <a:schemeClr val="bg1"/>
                </a:solidFill>
              </a:rPr>
              <a:t> 3000+ sophisticated cyber incidents</a:t>
            </a:r>
            <a:endParaRPr lang="en-US" sz="3200" dirty="0">
              <a:solidFill>
                <a:schemeClr val="bg1"/>
              </a:solidFill>
            </a:endParaRPr>
          </a:p>
          <a:p>
            <a:pPr marL="4114800" lvl="8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</a:rPr>
              <a:t>Time Frame:</a:t>
            </a:r>
            <a:r>
              <a:rPr lang="en-US" sz="3200" dirty="0">
                <a:solidFill>
                  <a:schemeClr val="bg1"/>
                </a:solidFill>
              </a:rPr>
              <a:t> 2016 – 2024</a:t>
            </a:r>
            <a:endParaRPr lang="en-US" sz="3200" dirty="0">
              <a:solidFill>
                <a:schemeClr val="bg1"/>
              </a:solidFill>
            </a:endParaRPr>
          </a:p>
          <a:p>
            <a:pPr marL="4114800" lvl="8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</a:rPr>
              <a:t>Geographic Spread:</a:t>
            </a:r>
            <a:r>
              <a:rPr lang="en-US" sz="3200" dirty="0">
                <a:solidFill>
                  <a:schemeClr val="bg1"/>
                </a:solidFill>
              </a:rPr>
              <a:t> 10 major nations</a:t>
            </a:r>
            <a:r>
              <a:rPr lang="ar-EG" sz="3200" dirty="0">
                <a:solidFill>
                  <a:schemeClr val="bg1"/>
                </a:solidFill>
              </a:rPr>
              <a:t> </a:t>
            </a:r>
            <a:br>
              <a:rPr lang="ar-EG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(China, India, UK, USA, Brazil, Japan,</a:t>
            </a:r>
            <a:br>
              <a:rPr lang="ar-EG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 Australia, Russia, Germany, France)</a:t>
            </a:r>
            <a:endParaRPr lang="en-US" sz="3200" dirty="0">
              <a:solidFill>
                <a:schemeClr val="bg1"/>
              </a:solidFill>
            </a:endParaRPr>
          </a:p>
          <a:p>
            <a:pPr marL="4114800" lvl="8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</a:rPr>
              <a:t>Industries Covered:</a:t>
            </a:r>
            <a:r>
              <a:rPr lang="en-US" sz="3200" dirty="0">
                <a:solidFill>
                  <a:schemeClr val="bg1"/>
                </a:solidFill>
              </a:rPr>
              <a:t> 7 critical sectors</a:t>
            </a:r>
            <a:endParaRPr lang="en-US" sz="3200" dirty="0">
              <a:solidFill>
                <a:schemeClr val="bg1"/>
              </a:solidFill>
            </a:endParaRPr>
          </a:p>
          <a:p>
            <a:pPr marL="4114800" lvl="8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solidFill>
                  <a:schemeClr val="bg1"/>
                </a:solidFill>
              </a:rPr>
              <a:t>Data Points:</a:t>
            </a:r>
            <a:r>
              <a:rPr lang="en-US" sz="3200" dirty="0">
                <a:solidFill>
                  <a:schemeClr val="bg1"/>
                </a:solidFill>
              </a:rPr>
              <a:t> 10+ metrics per incident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31" name="Picture 30" descr="A screenshot of a computer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2171700"/>
            <a:ext cx="10196651" cy="727618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  <a:headEnd/>
            <a:tailEnd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0"/>
            <a:ext cx="6262550" cy="6262550"/>
          </a:xfrm>
          <a:custGeom>
            <a:avLst/>
            <a:gdLst/>
            <a:ahLst/>
            <a:cxnLst/>
            <a:rect l="l" t="t" r="r" b="b"/>
            <a:pathLst>
              <a:path w="6262550" h="6262550">
                <a:moveTo>
                  <a:pt x="0" y="0"/>
                </a:moveTo>
                <a:lnTo>
                  <a:pt x="6262550" y="0"/>
                </a:lnTo>
                <a:lnTo>
                  <a:pt x="6262550" y="6262550"/>
                </a:lnTo>
                <a:lnTo>
                  <a:pt x="0" y="626255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124077" y="5574650"/>
            <a:ext cx="3944468" cy="4089104"/>
            <a:chOff x="0" y="0"/>
            <a:chExt cx="145609" cy="1509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609" cy="150949"/>
            </a:xfrm>
            <a:custGeom>
              <a:avLst/>
              <a:gdLst/>
              <a:ahLst/>
              <a:cxnLst/>
              <a:rect l="l" t="t" r="r" b="b"/>
              <a:pathLst>
                <a:path w="145609" h="150949">
                  <a:moveTo>
                    <a:pt x="0" y="0"/>
                  </a:moveTo>
                  <a:lnTo>
                    <a:pt x="145609" y="0"/>
                  </a:lnTo>
                  <a:lnTo>
                    <a:pt x="145609" y="150949"/>
                  </a:lnTo>
                  <a:lnTo>
                    <a:pt x="0" y="150949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5609" cy="189049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3245" y="5574650"/>
            <a:ext cx="4019923" cy="4089104"/>
            <a:chOff x="0" y="0"/>
            <a:chExt cx="148395" cy="1509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8395" cy="150949"/>
            </a:xfrm>
            <a:custGeom>
              <a:avLst/>
              <a:gdLst/>
              <a:ahLst/>
              <a:cxnLst/>
              <a:rect l="l" t="t" r="r" b="b"/>
              <a:pathLst>
                <a:path w="148395" h="150949">
                  <a:moveTo>
                    <a:pt x="0" y="0"/>
                  </a:moveTo>
                  <a:lnTo>
                    <a:pt x="148395" y="0"/>
                  </a:lnTo>
                  <a:lnTo>
                    <a:pt x="148395" y="150949"/>
                  </a:lnTo>
                  <a:lnTo>
                    <a:pt x="0" y="150949"/>
                  </a:lnTo>
                  <a:close/>
                </a:path>
              </a:pathLst>
            </a:custGeom>
            <a:solidFill>
              <a:srgbClr val="2323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8395" cy="189049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19455" y="5574650"/>
            <a:ext cx="3944468" cy="4089104"/>
            <a:chOff x="0" y="0"/>
            <a:chExt cx="145609" cy="1509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5609" cy="150949"/>
            </a:xfrm>
            <a:custGeom>
              <a:avLst/>
              <a:gdLst/>
              <a:ahLst/>
              <a:cxnLst/>
              <a:rect l="l" t="t" r="r" b="b"/>
              <a:pathLst>
                <a:path w="145609" h="150949">
                  <a:moveTo>
                    <a:pt x="0" y="0"/>
                  </a:moveTo>
                  <a:lnTo>
                    <a:pt x="145609" y="0"/>
                  </a:lnTo>
                  <a:lnTo>
                    <a:pt x="145609" y="150949"/>
                  </a:lnTo>
                  <a:lnTo>
                    <a:pt x="0" y="150949"/>
                  </a:lnTo>
                  <a:close/>
                </a:path>
              </a:pathLst>
            </a:custGeom>
            <a:solidFill>
              <a:srgbClr val="2323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5609" cy="189049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314832" y="5574650"/>
            <a:ext cx="3944468" cy="4089104"/>
            <a:chOff x="0" y="0"/>
            <a:chExt cx="145609" cy="1509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5609" cy="150949"/>
            </a:xfrm>
            <a:custGeom>
              <a:avLst/>
              <a:gdLst/>
              <a:ahLst/>
              <a:cxnLst/>
              <a:rect l="l" t="t" r="r" b="b"/>
              <a:pathLst>
                <a:path w="145609" h="150949">
                  <a:moveTo>
                    <a:pt x="0" y="0"/>
                  </a:moveTo>
                  <a:lnTo>
                    <a:pt x="145609" y="0"/>
                  </a:lnTo>
                  <a:lnTo>
                    <a:pt x="145609" y="150949"/>
                  </a:lnTo>
                  <a:lnTo>
                    <a:pt x="0" y="150949"/>
                  </a:lnTo>
                  <a:close/>
                </a:path>
              </a:pathLst>
            </a:custGeom>
            <a:solidFill>
              <a:srgbClr val="2323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45609" cy="189049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876866" y="1638455"/>
            <a:ext cx="10538379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 DATA OVERVIEW</a:t>
            </a:r>
            <a:endParaRPr lang="en-US" sz="7000" b="1" dirty="0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657813" y="3009700"/>
            <a:ext cx="12795157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7000" b="1" dirty="0">
                <a:solidFill>
                  <a:srgbClr val="37B4B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&amp;</a:t>
            </a:r>
            <a:endParaRPr lang="en-US" sz="7000" b="1" dirty="0">
              <a:solidFill>
                <a:srgbClr val="37B4B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439920" y="6776426"/>
            <a:ext cx="3492633" cy="30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What We Measured</a:t>
            </a:r>
            <a:endParaRPr lang="en-US" sz="25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404447" y="7295731"/>
            <a:ext cx="3697811" cy="1829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Financial loss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Users impacted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Attack sources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Response efficiency</a:t>
            </a:r>
            <a:endParaRPr lang="en-US" sz="2400" dirty="0">
              <a:solidFill>
                <a:schemeClr val="bg1"/>
              </a:solidFill>
            </a:endParaRPr>
          </a:p>
          <a:p>
            <a:pPr algn="ctr">
              <a:lnSpc>
                <a:spcPts val="3000"/>
              </a:lnSpc>
            </a:pPr>
            <a:endParaRPr lang="en-US" sz="2000" dirty="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0851930" y="5789239"/>
            <a:ext cx="679518" cy="679518"/>
          </a:xfrm>
          <a:custGeom>
            <a:avLst/>
            <a:gdLst/>
            <a:ahLst/>
            <a:cxnLst/>
            <a:rect l="l" t="t" r="r" b="b"/>
            <a:pathLst>
              <a:path w="679518" h="679518">
                <a:moveTo>
                  <a:pt x="0" y="0"/>
                </a:moveTo>
                <a:lnTo>
                  <a:pt x="679518" y="0"/>
                </a:lnTo>
                <a:lnTo>
                  <a:pt x="679518" y="679518"/>
                </a:lnTo>
                <a:lnTo>
                  <a:pt x="0" y="679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5371324" y="6776426"/>
            <a:ext cx="3449975" cy="30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Scope</a:t>
            </a:r>
            <a:endParaRPr lang="en-US" sz="25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205998" y="7291772"/>
            <a:ext cx="4136785" cy="1818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Countries: China, India, UK, Germany, France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Sectors: Critical industries </a:t>
            </a:r>
            <a:br>
              <a:rPr lang="ar-EG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(7 total)</a:t>
            </a:r>
            <a:endParaRPr lang="en-US" sz="2400" dirty="0">
              <a:solidFill>
                <a:schemeClr val="bg1"/>
              </a:solidFill>
            </a:endParaRPr>
          </a:p>
          <a:p>
            <a:pPr algn="ctr">
              <a:lnSpc>
                <a:spcPts val="2935"/>
              </a:lnSpc>
            </a:pPr>
            <a:endParaRPr lang="en-US" sz="1960" dirty="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6756552" y="5789239"/>
            <a:ext cx="679518" cy="679518"/>
          </a:xfrm>
          <a:custGeom>
            <a:avLst/>
            <a:gdLst/>
            <a:ahLst/>
            <a:cxnLst/>
            <a:rect l="l" t="t" r="r" b="b"/>
            <a:pathLst>
              <a:path w="679518" h="679518">
                <a:moveTo>
                  <a:pt x="0" y="0"/>
                </a:moveTo>
                <a:lnTo>
                  <a:pt x="679518" y="0"/>
                </a:lnTo>
                <a:lnTo>
                  <a:pt x="679518" y="679518"/>
                </a:lnTo>
                <a:lnTo>
                  <a:pt x="0" y="679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2585720" y="5789239"/>
            <a:ext cx="679518" cy="679518"/>
          </a:xfrm>
          <a:custGeom>
            <a:avLst/>
            <a:gdLst/>
            <a:ahLst/>
            <a:cxnLst/>
            <a:rect l="l" t="t" r="r" b="b"/>
            <a:pathLst>
              <a:path w="679518" h="679518">
                <a:moveTo>
                  <a:pt x="0" y="0"/>
                </a:moveTo>
                <a:lnTo>
                  <a:pt x="679518" y="0"/>
                </a:lnTo>
                <a:lnTo>
                  <a:pt x="679518" y="679518"/>
                </a:lnTo>
                <a:lnTo>
                  <a:pt x="0" y="679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281752" y="6776426"/>
            <a:ext cx="3287455" cy="30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Objective</a:t>
            </a:r>
            <a:endParaRPr lang="en-US" sz="25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127644" y="7291772"/>
            <a:ext cx="4095377" cy="1472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Study 15 major cases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Identify key threats &amp; effective defenses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 algn="ctr">
              <a:lnSpc>
                <a:spcPts val="3000"/>
              </a:lnSpc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1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4947307" y="5789239"/>
            <a:ext cx="679518" cy="679518"/>
          </a:xfrm>
          <a:custGeom>
            <a:avLst/>
            <a:gdLst/>
            <a:ahLst/>
            <a:cxnLst/>
            <a:rect l="l" t="t" r="r" b="b"/>
            <a:pathLst>
              <a:path w="679518" h="679518">
                <a:moveTo>
                  <a:pt x="0" y="0"/>
                </a:moveTo>
                <a:lnTo>
                  <a:pt x="679518" y="0"/>
                </a:lnTo>
                <a:lnTo>
                  <a:pt x="679518" y="679518"/>
                </a:lnTo>
                <a:lnTo>
                  <a:pt x="0" y="6795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13652187" y="6776426"/>
            <a:ext cx="3269758" cy="30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Visual</a:t>
            </a:r>
            <a:endParaRPr lang="en-US" sz="25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250987" y="7291772"/>
            <a:ext cx="3819152" cy="1121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ctr">
              <a:lnSpc>
                <a:spcPts val="3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/>
                </a:solidFill>
              </a:rPr>
              <a:t>Country flags + industry icons</a:t>
            </a:r>
            <a:endParaRPr lang="en-US" sz="2400" dirty="0">
              <a:solidFill>
                <a:schemeClr val="bg1"/>
              </a:solidFill>
            </a:endParaRPr>
          </a:p>
          <a:p>
            <a:pPr algn="ctr">
              <a:lnSpc>
                <a:spcPts val="3000"/>
              </a:lnSpc>
            </a:pPr>
            <a:endParaRPr lang="en-US" sz="2000" dirty="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08108" y="0"/>
            <a:ext cx="7879892" cy="10287000"/>
            <a:chOff x="0" y="0"/>
            <a:chExt cx="1220801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0801" cy="1593725"/>
            </a:xfrm>
            <a:custGeom>
              <a:avLst/>
              <a:gdLst/>
              <a:ahLst/>
              <a:cxnLst/>
              <a:rect l="l" t="t" r="r" b="b"/>
              <a:pathLst>
                <a:path w="1220801" h="1593725">
                  <a:moveTo>
                    <a:pt x="0" y="0"/>
                  </a:moveTo>
                  <a:lnTo>
                    <a:pt x="1220801" y="0"/>
                  </a:lnTo>
                  <a:lnTo>
                    <a:pt x="122080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1"/>
              <a:stretch>
                <a:fillRect l="-9594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 rot="-10800000">
            <a:off x="110616" y="9145424"/>
            <a:ext cx="6385195" cy="928756"/>
          </a:xfrm>
          <a:custGeom>
            <a:avLst/>
            <a:gdLst/>
            <a:ahLst/>
            <a:cxnLst/>
            <a:rect l="l" t="t" r="r" b="b"/>
            <a:pathLst>
              <a:path w="6385195" h="928756">
                <a:moveTo>
                  <a:pt x="0" y="0"/>
                </a:moveTo>
                <a:lnTo>
                  <a:pt x="6385194" y="0"/>
                </a:lnTo>
                <a:lnTo>
                  <a:pt x="6385194" y="928755"/>
                </a:lnTo>
                <a:lnTo>
                  <a:pt x="0" y="928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52374" y="614507"/>
            <a:ext cx="11959448" cy="167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7000" b="1" dirty="0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OUR ANALYTICAL MISSION:</a:t>
            </a:r>
            <a:endParaRPr lang="en-US" sz="7000" b="1" dirty="0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26016" y="3107355"/>
            <a:ext cx="8916847" cy="239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 b="1" dirty="0">
                <a:solidFill>
                  <a:srgbClr val="37B4B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Primary Objective:</a:t>
            </a:r>
            <a:endParaRPr lang="ar-EG" sz="2500" b="1" dirty="0">
              <a:solidFill>
                <a:srgbClr val="37B4B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marL="800100" lvl="1" indent="-342900">
              <a:lnSpc>
                <a:spcPts val="375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Montserrat" panose="00000500000000000000"/>
                <a:sym typeface="Montserrat Bold" panose="00000800000000000000"/>
              </a:rPr>
              <a:t>Shift from reactive → proactive security</a:t>
            </a:r>
            <a:endParaRPr lang="ar-EG" sz="2500" dirty="0">
              <a:solidFill>
                <a:srgbClr val="FFFFFF"/>
              </a:solidFill>
              <a:latin typeface="Montserrat" panose="00000500000000000000"/>
              <a:sym typeface="Montserrat Bold" panose="00000800000000000000"/>
            </a:endParaRPr>
          </a:p>
          <a:p>
            <a:pPr marL="800100" lvl="1" indent="-342900">
              <a:lnSpc>
                <a:spcPts val="375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Montserrat" panose="00000500000000000000"/>
                <a:sym typeface="Montserrat Bold" panose="00000800000000000000"/>
              </a:rPr>
              <a:t>Predict threats using pattern recognition</a:t>
            </a:r>
            <a:r>
              <a:rPr lang="ar-EG" sz="2500" dirty="0">
                <a:solidFill>
                  <a:srgbClr val="FFFFFF"/>
                </a:solidFill>
                <a:latin typeface="Montserrat" panose="00000500000000000000"/>
                <a:sym typeface="Montserrat Bold" panose="00000800000000000000"/>
              </a:rPr>
              <a:t>	</a:t>
            </a:r>
            <a:br>
              <a:rPr lang="ar-EG" sz="2500" b="1" dirty="0">
                <a:solidFill>
                  <a:srgbClr val="37B4B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</a:br>
            <a:br>
              <a:rPr lang="ar-EG" sz="2500" b="1" dirty="0">
                <a:solidFill>
                  <a:srgbClr val="37B4B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</a:br>
            <a:r>
              <a:rPr lang="en-US" sz="2500" dirty="0">
                <a:solidFill>
                  <a:srgbClr val="37B4BE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 </a:t>
            </a:r>
            <a:endParaRPr lang="en-US" sz="2500" dirty="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48300" y="5339565"/>
            <a:ext cx="10319604" cy="198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Montserrat" panose="00000500000000000000"/>
              </a:rPr>
              <a:t>What vulnerabilities are most exploited?</a:t>
            </a:r>
            <a:endParaRPr lang="en-US" sz="2500" dirty="0">
              <a:solidFill>
                <a:srgbClr val="FFFFFF"/>
              </a:solidFill>
              <a:latin typeface="Montserrat" panose="0000050000000000000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Montserrat" panose="00000500000000000000"/>
              </a:rPr>
              <a:t>Which actors cause the most damage?</a:t>
            </a:r>
            <a:endParaRPr lang="en-US" sz="2500" dirty="0">
              <a:solidFill>
                <a:srgbClr val="FFFFFF"/>
              </a:solidFill>
              <a:latin typeface="Montserrat" panose="0000050000000000000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Montserrat" panose="00000500000000000000"/>
              </a:rPr>
              <a:t>How effective are current defenses?</a:t>
            </a:r>
            <a:endParaRPr lang="en-US" sz="2500" dirty="0">
              <a:solidFill>
                <a:srgbClr val="FFFFFF"/>
              </a:solidFill>
              <a:latin typeface="Montserrat" panose="0000050000000000000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rgbClr val="FFFFFF"/>
                </a:solidFill>
                <a:latin typeface="Montserrat" panose="00000500000000000000"/>
              </a:rPr>
              <a:t>What new attack trends are emerging?</a:t>
            </a:r>
            <a:endParaRPr lang="en-US" sz="2500" dirty="0">
              <a:solidFill>
                <a:srgbClr val="FFFFFF"/>
              </a:solidFill>
              <a:latin typeface="Montserrat" panose="00000500000000000000"/>
            </a:endParaRPr>
          </a:p>
          <a:p>
            <a:pPr algn="l">
              <a:lnSpc>
                <a:spcPts val="3750"/>
              </a:lnSpc>
            </a:pPr>
            <a:endParaRPr lang="en-US" sz="2500" dirty="0">
              <a:solidFill>
                <a:schemeClr val="bg1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26015" y="4766104"/>
            <a:ext cx="10319604" cy="30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b="1" dirty="0">
                <a:solidFill>
                  <a:srgbClr val="37B4B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Core Questions:</a:t>
            </a:r>
            <a:endParaRPr lang="en-US" sz="2500" b="1" dirty="0">
              <a:solidFill>
                <a:srgbClr val="37B4B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48300" y="7323121"/>
            <a:ext cx="8916847" cy="93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 b="1" dirty="0">
                <a:solidFill>
                  <a:srgbClr val="37B4B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Business Value:</a:t>
            </a:r>
            <a:br>
              <a:rPr lang="ar-EG" sz="2500" b="1" dirty="0">
                <a:solidFill>
                  <a:srgbClr val="37B4B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</a:br>
            <a:endParaRPr lang="en-US" sz="2500" dirty="0">
              <a:solidFill>
                <a:schemeClr val="bg1"/>
              </a:solidFill>
              <a:latin typeface="Montserrat" panose="00000500000000000000" pitchFamily="2" charset="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8" name="TextBox 14"/>
          <p:cNvSpPr txBox="1"/>
          <p:nvPr/>
        </p:nvSpPr>
        <p:spPr>
          <a:xfrm>
            <a:off x="1781423" y="7884310"/>
            <a:ext cx="8916847" cy="444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75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solidFill>
                  <a:schemeClr val="bg1"/>
                </a:solidFill>
                <a:latin typeface="Montserrat" panose="00000500000000000000" pitchFamily="2" charset="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Security as strategic investment, not cost</a:t>
            </a:r>
            <a:endParaRPr lang="en-US" sz="2500" dirty="0">
              <a:solidFill>
                <a:schemeClr val="bg1"/>
              </a:solidFill>
              <a:latin typeface="Montserrat" panose="00000500000000000000" pitchFamily="2" charset="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2" name="Graphic 38"/>
          <p:cNvGrpSpPr>
            <a:grpSpLocks noGrp="1" noRot="1" noChangeAspect="1" noMove="1" noResize="1" noUngrp="1"/>
          </p:cNvGrpSpPr>
          <p:nvPr/>
        </p:nvGrpSpPr>
        <p:grpSpPr>
          <a:xfrm>
            <a:off x="5231212" y="511682"/>
            <a:ext cx="2865378" cy="1064489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86" name="Freeform: Shape 85"/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/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9" name="Group 88"/>
          <p:cNvGrpSpPr>
            <a:grpSpLocks noGrp="1" noRot="1" noChangeAspect="1" noMove="1" noResize="1" noUngrp="1"/>
          </p:cNvGrpSpPr>
          <p:nvPr/>
        </p:nvGrpSpPr>
        <p:grpSpPr>
          <a:xfrm>
            <a:off x="1482832" y="1934856"/>
            <a:ext cx="7717718" cy="6724752"/>
            <a:chOff x="1674895" y="1345036"/>
            <a:chExt cx="5428610" cy="4210939"/>
          </a:xfrm>
        </p:grpSpPr>
        <p:sp>
          <p:nvSpPr>
            <p:cNvPr id="123" name="Rectangle 122"/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5" name="Rectangle 1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414048" y="1780966"/>
            <a:ext cx="7634328" cy="672506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2220685" y="2451096"/>
            <a:ext cx="5957747" cy="4157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Montserrat Bold" panose="00000800000000000000"/>
              </a:rPr>
              <a:t>OUR ANALYTICAL PROCESS</a:t>
            </a:r>
            <a:endParaRPr lang="en-US" sz="8100" b="1" kern="1200" dirty="0">
              <a:solidFill>
                <a:schemeClr val="bg1"/>
              </a:solidFill>
              <a:latin typeface="+mj-lt"/>
              <a:ea typeface="+mj-ea"/>
              <a:cs typeface="+mj-cs"/>
              <a:sym typeface="Montserrat Bold" panose="00000800000000000000"/>
            </a:endParaRPr>
          </a:p>
        </p:txBody>
      </p:sp>
      <p:sp>
        <p:nvSpPr>
          <p:cNvPr id="126" name="Oval 1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17960" y="6870606"/>
            <a:ext cx="609614" cy="60961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sp>
        <p:nvSpPr>
          <p:cNvPr id="127" name="Oval 1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17960" y="6870606"/>
            <a:ext cx="609614" cy="609613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pic>
        <p:nvPicPr>
          <p:cNvPr id="65" name="Picture 64" descr="A screenshot of a comput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785"/>
          <a:stretch>
            <a:fillRect/>
          </a:stretch>
        </p:blipFill>
        <p:spPr>
          <a:xfrm>
            <a:off x="9544832" y="923624"/>
            <a:ext cx="8362167" cy="89442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2" name="Graphic 38"/>
          <p:cNvGrpSpPr>
            <a:grpSpLocks noGrp="1" noRot="1" noChangeAspect="1" noMove="1" noResize="1" noUngrp="1"/>
          </p:cNvGrpSpPr>
          <p:nvPr/>
        </p:nvGrpSpPr>
        <p:grpSpPr>
          <a:xfrm>
            <a:off x="5231212" y="511682"/>
            <a:ext cx="2865378" cy="1064489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86" name="Freeform: Shape 85"/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/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9" name="Group 88"/>
          <p:cNvGrpSpPr>
            <a:grpSpLocks noGrp="1" noRot="1" noChangeAspect="1" noMove="1" noResize="1" noUngrp="1"/>
          </p:cNvGrpSpPr>
          <p:nvPr/>
        </p:nvGrpSpPr>
        <p:grpSpPr>
          <a:xfrm>
            <a:off x="1482832" y="1934856"/>
            <a:ext cx="7717718" cy="6724752"/>
            <a:chOff x="1674895" y="1345036"/>
            <a:chExt cx="5428610" cy="4210939"/>
          </a:xfrm>
        </p:grpSpPr>
        <p:sp>
          <p:nvSpPr>
            <p:cNvPr id="123" name="Rectangle 122"/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5" name="Rectangle 1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414048" y="1780966"/>
            <a:ext cx="7634328" cy="672506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2220685" y="2451096"/>
            <a:ext cx="5957747" cy="4157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Montserrat Bold" panose="00000800000000000000"/>
              </a:rPr>
              <a:t>OUR ANALYTICAL PROCESS</a:t>
            </a:r>
            <a:endParaRPr lang="en-US" sz="8100" b="1" kern="1200" dirty="0">
              <a:solidFill>
                <a:schemeClr val="bg1"/>
              </a:solidFill>
              <a:latin typeface="+mj-lt"/>
              <a:ea typeface="+mj-ea"/>
              <a:cs typeface="+mj-cs"/>
              <a:sym typeface="Montserrat Bold" panose="00000800000000000000"/>
            </a:endParaRPr>
          </a:p>
        </p:txBody>
      </p:sp>
      <p:sp>
        <p:nvSpPr>
          <p:cNvPr id="126" name="Oval 1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17960" y="6870606"/>
            <a:ext cx="609614" cy="60961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sp>
        <p:nvSpPr>
          <p:cNvPr id="127" name="Oval 1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17960" y="6870606"/>
            <a:ext cx="609614" cy="609613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311" y="923624"/>
            <a:ext cx="8252003" cy="87918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2" name="Graphic 38"/>
          <p:cNvGrpSpPr>
            <a:grpSpLocks noGrp="1" noRot="1" noChangeAspect="1" noMove="1" noResize="1" noUngrp="1"/>
          </p:cNvGrpSpPr>
          <p:nvPr/>
        </p:nvGrpSpPr>
        <p:grpSpPr>
          <a:xfrm>
            <a:off x="5231212" y="511682"/>
            <a:ext cx="2865378" cy="1064489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86" name="Freeform: Shape 85"/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/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9" name="Group 88"/>
          <p:cNvGrpSpPr>
            <a:grpSpLocks noGrp="1" noRot="1" noChangeAspect="1" noMove="1" noResize="1" noUngrp="1"/>
          </p:cNvGrpSpPr>
          <p:nvPr/>
        </p:nvGrpSpPr>
        <p:grpSpPr>
          <a:xfrm>
            <a:off x="1482832" y="1934856"/>
            <a:ext cx="7717718" cy="6724752"/>
            <a:chOff x="1674895" y="1345036"/>
            <a:chExt cx="5428610" cy="4210939"/>
          </a:xfrm>
        </p:grpSpPr>
        <p:sp>
          <p:nvSpPr>
            <p:cNvPr id="123" name="Rectangle 122"/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5" name="Rectangle 1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414048" y="1780966"/>
            <a:ext cx="7634328" cy="672506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2220685" y="2451096"/>
            <a:ext cx="5957747" cy="4157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Montserrat Bold" panose="00000800000000000000"/>
              </a:rPr>
              <a:t>OUR ANALYTICAL PROCESS</a:t>
            </a:r>
            <a:endParaRPr lang="en-US" sz="8100" b="1" kern="1200" dirty="0">
              <a:solidFill>
                <a:schemeClr val="bg1"/>
              </a:solidFill>
              <a:latin typeface="+mj-lt"/>
              <a:ea typeface="+mj-ea"/>
              <a:cs typeface="+mj-cs"/>
              <a:sym typeface="Montserrat Bold" panose="00000800000000000000"/>
            </a:endParaRPr>
          </a:p>
        </p:txBody>
      </p:sp>
      <p:sp>
        <p:nvSpPr>
          <p:cNvPr id="126" name="Oval 1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17960" y="6870606"/>
            <a:ext cx="609614" cy="60961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sp>
        <p:nvSpPr>
          <p:cNvPr id="127" name="Oval 1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17960" y="6870606"/>
            <a:ext cx="609614" cy="609613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4832" y="923624"/>
            <a:ext cx="8362167" cy="87918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2" name="Graphic 38"/>
          <p:cNvGrpSpPr>
            <a:grpSpLocks noGrp="1" noRot="1" noChangeAspect="1" noMove="1" noResize="1" noUngrp="1"/>
          </p:cNvGrpSpPr>
          <p:nvPr/>
        </p:nvGrpSpPr>
        <p:grpSpPr>
          <a:xfrm>
            <a:off x="5231212" y="511682"/>
            <a:ext cx="2865378" cy="1064489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86" name="Freeform: Shape 85"/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/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9" name="Group 88"/>
          <p:cNvGrpSpPr>
            <a:grpSpLocks noGrp="1" noRot="1" noChangeAspect="1" noMove="1" noResize="1" noUngrp="1"/>
          </p:cNvGrpSpPr>
          <p:nvPr/>
        </p:nvGrpSpPr>
        <p:grpSpPr>
          <a:xfrm>
            <a:off x="1482832" y="1934856"/>
            <a:ext cx="7717718" cy="6724752"/>
            <a:chOff x="1674895" y="1345036"/>
            <a:chExt cx="5428610" cy="4210939"/>
          </a:xfrm>
        </p:grpSpPr>
        <p:sp>
          <p:nvSpPr>
            <p:cNvPr id="123" name="Rectangle 122"/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5" name="Rectangle 1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414048" y="1780966"/>
            <a:ext cx="7634328" cy="672506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2220685" y="2451096"/>
            <a:ext cx="5957747" cy="4157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Montserrat Bold" panose="00000800000000000000"/>
              </a:rPr>
              <a:t>OUR ANALYTICAL PROCESS</a:t>
            </a:r>
            <a:endParaRPr lang="en-US" sz="8100" b="1" kern="1200" dirty="0">
              <a:solidFill>
                <a:schemeClr val="bg1"/>
              </a:solidFill>
              <a:latin typeface="+mj-lt"/>
              <a:ea typeface="+mj-ea"/>
              <a:cs typeface="+mj-cs"/>
              <a:sym typeface="Montserrat Bold" panose="00000800000000000000"/>
            </a:endParaRPr>
          </a:p>
        </p:txBody>
      </p:sp>
      <p:sp>
        <p:nvSpPr>
          <p:cNvPr id="126" name="Oval 1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17960" y="6870606"/>
            <a:ext cx="609614" cy="60961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sp>
        <p:nvSpPr>
          <p:cNvPr id="127" name="Oval 1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17960" y="6870606"/>
            <a:ext cx="609614" cy="609613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4832" y="923624"/>
            <a:ext cx="8362167" cy="87156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2" name="Graphic 38"/>
          <p:cNvGrpSpPr>
            <a:grpSpLocks noGrp="1" noRot="1" noChangeAspect="1" noMove="1" noResize="1" noUngrp="1"/>
          </p:cNvGrpSpPr>
          <p:nvPr/>
        </p:nvGrpSpPr>
        <p:grpSpPr>
          <a:xfrm>
            <a:off x="5231212" y="511682"/>
            <a:ext cx="2865378" cy="1064489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86" name="Freeform: Shape 85"/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/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9" name="Group 88"/>
          <p:cNvGrpSpPr>
            <a:grpSpLocks noGrp="1" noRot="1" noChangeAspect="1" noMove="1" noResize="1" noUngrp="1"/>
          </p:cNvGrpSpPr>
          <p:nvPr/>
        </p:nvGrpSpPr>
        <p:grpSpPr>
          <a:xfrm>
            <a:off x="1482832" y="1934856"/>
            <a:ext cx="7717718" cy="6724752"/>
            <a:chOff x="1674895" y="1345036"/>
            <a:chExt cx="5428610" cy="4210939"/>
          </a:xfrm>
        </p:grpSpPr>
        <p:sp>
          <p:nvSpPr>
            <p:cNvPr id="123" name="Rectangle 122"/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5" name="Rectangle 1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414048" y="1780966"/>
            <a:ext cx="7634328" cy="672506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2220685" y="2451096"/>
            <a:ext cx="5957747" cy="4157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Montserrat Bold" panose="00000800000000000000"/>
              </a:rPr>
              <a:t>OUR ANALYTICAL PROCESS</a:t>
            </a:r>
            <a:endParaRPr lang="en-US" sz="8100" b="1" kern="1200" dirty="0">
              <a:solidFill>
                <a:schemeClr val="bg1"/>
              </a:solidFill>
              <a:latin typeface="+mj-lt"/>
              <a:ea typeface="+mj-ea"/>
              <a:cs typeface="+mj-cs"/>
              <a:sym typeface="Montserrat Bold" panose="00000800000000000000"/>
            </a:endParaRPr>
          </a:p>
        </p:txBody>
      </p:sp>
      <p:sp>
        <p:nvSpPr>
          <p:cNvPr id="126" name="Oval 1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17960" y="6870606"/>
            <a:ext cx="609614" cy="60961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sp>
        <p:nvSpPr>
          <p:cNvPr id="127" name="Oval 1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17960" y="6870606"/>
            <a:ext cx="609614" cy="609613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" t="5708" r="-290"/>
          <a:stretch>
            <a:fillRect/>
          </a:stretch>
        </p:blipFill>
        <p:spPr>
          <a:xfrm>
            <a:off x="9482750" y="698496"/>
            <a:ext cx="8392647" cy="350520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839" y="4229100"/>
            <a:ext cx="8460159" cy="58566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2" name="Graphic 38"/>
          <p:cNvGrpSpPr>
            <a:grpSpLocks noGrp="1" noRot="1" noChangeAspect="1" noMove="1" noResize="1" noUngrp="1"/>
          </p:cNvGrpSpPr>
          <p:nvPr/>
        </p:nvGrpSpPr>
        <p:grpSpPr>
          <a:xfrm>
            <a:off x="5231212" y="511682"/>
            <a:ext cx="2865378" cy="1064489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86" name="Freeform: Shape 85"/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/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9" name="Group 88"/>
          <p:cNvGrpSpPr>
            <a:grpSpLocks noGrp="1" noRot="1" noChangeAspect="1" noMove="1" noResize="1" noUngrp="1"/>
          </p:cNvGrpSpPr>
          <p:nvPr/>
        </p:nvGrpSpPr>
        <p:grpSpPr>
          <a:xfrm>
            <a:off x="1482832" y="1934856"/>
            <a:ext cx="7717718" cy="6724752"/>
            <a:chOff x="1674895" y="1345036"/>
            <a:chExt cx="5428610" cy="4210939"/>
          </a:xfrm>
        </p:grpSpPr>
        <p:sp>
          <p:nvSpPr>
            <p:cNvPr id="123" name="Rectangle 122"/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5" name="Rectangle 1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414048" y="1780966"/>
            <a:ext cx="7634328" cy="672506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2220685" y="2451096"/>
            <a:ext cx="5957747" cy="41570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1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Montserrat Bold" panose="00000800000000000000"/>
              </a:rPr>
              <a:t>OUR ANALYTICAL PROCESS</a:t>
            </a:r>
            <a:endParaRPr lang="en-US" sz="8100" b="1" kern="1200" dirty="0">
              <a:solidFill>
                <a:schemeClr val="bg1"/>
              </a:solidFill>
              <a:latin typeface="+mj-lt"/>
              <a:ea typeface="+mj-ea"/>
              <a:cs typeface="+mj-cs"/>
              <a:sym typeface="Montserrat Bold" panose="00000800000000000000"/>
            </a:endParaRPr>
          </a:p>
        </p:txBody>
      </p:sp>
      <p:sp>
        <p:nvSpPr>
          <p:cNvPr id="126" name="Oval 1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17960" y="6870606"/>
            <a:ext cx="609614" cy="609613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sp>
        <p:nvSpPr>
          <p:cNvPr id="127" name="Oval 1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17960" y="6870606"/>
            <a:ext cx="609614" cy="609613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872" y="1370200"/>
            <a:ext cx="8310805" cy="7888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52943" y="4111238"/>
            <a:ext cx="7388928" cy="2065764"/>
            <a:chOff x="0" y="0"/>
            <a:chExt cx="272761" cy="762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761" cy="76257"/>
            </a:xfrm>
            <a:custGeom>
              <a:avLst/>
              <a:gdLst/>
              <a:ahLst/>
              <a:cxnLst/>
              <a:rect l="l" t="t" r="r" b="b"/>
              <a:pathLst>
                <a:path w="272761" h="76257">
                  <a:moveTo>
                    <a:pt x="0" y="0"/>
                  </a:moveTo>
                  <a:lnTo>
                    <a:pt x="272761" y="0"/>
                  </a:lnTo>
                  <a:lnTo>
                    <a:pt x="272761" y="76257"/>
                  </a:lnTo>
                  <a:lnTo>
                    <a:pt x="0" y="76257"/>
                  </a:lnTo>
                  <a:close/>
                </a:path>
              </a:pathLst>
            </a:custGeom>
            <a:solidFill>
              <a:srgbClr val="2323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2761" cy="114357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352943" y="6519902"/>
            <a:ext cx="7388928" cy="2065764"/>
            <a:chOff x="0" y="0"/>
            <a:chExt cx="272761" cy="762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2761" cy="76257"/>
            </a:xfrm>
            <a:custGeom>
              <a:avLst/>
              <a:gdLst/>
              <a:ahLst/>
              <a:cxnLst/>
              <a:rect l="l" t="t" r="r" b="b"/>
              <a:pathLst>
                <a:path w="272761" h="76257">
                  <a:moveTo>
                    <a:pt x="0" y="0"/>
                  </a:moveTo>
                  <a:lnTo>
                    <a:pt x="272761" y="0"/>
                  </a:lnTo>
                  <a:lnTo>
                    <a:pt x="272761" y="76257"/>
                  </a:lnTo>
                  <a:lnTo>
                    <a:pt x="0" y="76257"/>
                  </a:lnTo>
                  <a:close/>
                </a:path>
              </a:pathLst>
            </a:custGeom>
            <a:solidFill>
              <a:srgbClr val="2323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2761" cy="114357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52943" y="1774264"/>
            <a:ext cx="7388928" cy="2065764"/>
            <a:chOff x="0" y="0"/>
            <a:chExt cx="272761" cy="762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2761" cy="76257"/>
            </a:xfrm>
            <a:custGeom>
              <a:avLst/>
              <a:gdLst/>
              <a:ahLst/>
              <a:cxnLst/>
              <a:rect l="l" t="t" r="r" b="b"/>
              <a:pathLst>
                <a:path w="272761" h="76257">
                  <a:moveTo>
                    <a:pt x="0" y="0"/>
                  </a:moveTo>
                  <a:lnTo>
                    <a:pt x="272761" y="0"/>
                  </a:lnTo>
                  <a:lnTo>
                    <a:pt x="272761" y="76257"/>
                  </a:lnTo>
                  <a:lnTo>
                    <a:pt x="0" y="76257"/>
                  </a:lnTo>
                  <a:close/>
                </a:path>
              </a:pathLst>
            </a:custGeom>
            <a:solidFill>
              <a:srgbClr val="2323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72761" cy="114357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52943" y="4111238"/>
            <a:ext cx="1386223" cy="2065764"/>
            <a:chOff x="0" y="0"/>
            <a:chExt cx="51172" cy="762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172" cy="76257"/>
            </a:xfrm>
            <a:custGeom>
              <a:avLst/>
              <a:gdLst/>
              <a:ahLst/>
              <a:cxnLst/>
              <a:rect l="l" t="t" r="r" b="b"/>
              <a:pathLst>
                <a:path w="51172" h="76257">
                  <a:moveTo>
                    <a:pt x="0" y="0"/>
                  </a:moveTo>
                  <a:lnTo>
                    <a:pt x="51172" y="0"/>
                  </a:lnTo>
                  <a:lnTo>
                    <a:pt x="51172" y="76257"/>
                  </a:lnTo>
                  <a:lnTo>
                    <a:pt x="0" y="76257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1172" cy="114357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152324" y="9334307"/>
            <a:ext cx="6385195" cy="928756"/>
          </a:xfrm>
          <a:custGeom>
            <a:avLst/>
            <a:gdLst/>
            <a:ahLst/>
            <a:cxnLst/>
            <a:rect l="l" t="t" r="r" b="b"/>
            <a:pathLst>
              <a:path w="6385195" h="928756">
                <a:moveTo>
                  <a:pt x="0" y="0"/>
                </a:moveTo>
                <a:lnTo>
                  <a:pt x="6385194" y="0"/>
                </a:lnTo>
                <a:lnTo>
                  <a:pt x="6385194" y="928756"/>
                </a:lnTo>
                <a:lnTo>
                  <a:pt x="0" y="92875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10800000">
            <a:off x="3967748" y="564322"/>
            <a:ext cx="6385195" cy="928756"/>
          </a:xfrm>
          <a:custGeom>
            <a:avLst/>
            <a:gdLst/>
            <a:ahLst/>
            <a:cxnLst/>
            <a:rect l="l" t="t" r="r" b="b"/>
            <a:pathLst>
              <a:path w="6385195" h="928756">
                <a:moveTo>
                  <a:pt x="0" y="0"/>
                </a:moveTo>
                <a:lnTo>
                  <a:pt x="6385195" y="0"/>
                </a:lnTo>
                <a:lnTo>
                  <a:pt x="6385195" y="928756"/>
                </a:lnTo>
                <a:lnTo>
                  <a:pt x="0" y="92875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0655462" y="2273747"/>
            <a:ext cx="781185" cy="775504"/>
          </a:xfrm>
          <a:custGeom>
            <a:avLst/>
            <a:gdLst/>
            <a:ahLst/>
            <a:cxnLst/>
            <a:rect l="l" t="t" r="r" b="b"/>
            <a:pathLst>
              <a:path w="781185" h="775504">
                <a:moveTo>
                  <a:pt x="0" y="0"/>
                </a:moveTo>
                <a:lnTo>
                  <a:pt x="781185" y="0"/>
                </a:lnTo>
                <a:lnTo>
                  <a:pt x="781185" y="775504"/>
                </a:lnTo>
                <a:lnTo>
                  <a:pt x="0" y="7755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0655462" y="4567742"/>
            <a:ext cx="775504" cy="775504"/>
          </a:xfrm>
          <a:custGeom>
            <a:avLst/>
            <a:gdLst/>
            <a:ahLst/>
            <a:cxnLst/>
            <a:rect l="l" t="t" r="r" b="b"/>
            <a:pathLst>
              <a:path w="775504" h="775504">
                <a:moveTo>
                  <a:pt x="0" y="0"/>
                </a:moveTo>
                <a:lnTo>
                  <a:pt x="775504" y="0"/>
                </a:lnTo>
                <a:lnTo>
                  <a:pt x="775504" y="775504"/>
                </a:lnTo>
                <a:lnTo>
                  <a:pt x="0" y="7755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0543074" y="7092101"/>
            <a:ext cx="1005961" cy="775504"/>
          </a:xfrm>
          <a:custGeom>
            <a:avLst/>
            <a:gdLst/>
            <a:ahLst/>
            <a:cxnLst/>
            <a:rect l="l" t="t" r="r" b="b"/>
            <a:pathLst>
              <a:path w="1005961" h="775504">
                <a:moveTo>
                  <a:pt x="0" y="0"/>
                </a:moveTo>
                <a:lnTo>
                  <a:pt x="1005961" y="0"/>
                </a:lnTo>
                <a:lnTo>
                  <a:pt x="1005961" y="775505"/>
                </a:lnTo>
                <a:lnTo>
                  <a:pt x="0" y="7755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28700" y="2090782"/>
            <a:ext cx="9324243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7000" b="1">
                <a:solidFill>
                  <a:srgbClr val="37B4B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INSIGHTS</a:t>
            </a:r>
            <a:endParaRPr lang="en-US" sz="7000" b="1">
              <a:solidFill>
                <a:srgbClr val="37B4B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442141" y="4262931"/>
            <a:ext cx="5299730" cy="30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Most targeted sectors</a:t>
            </a:r>
            <a:endParaRPr lang="en-US" sz="25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890428" y="4754163"/>
            <a:ext cx="5697905" cy="1123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IT 478 - Banking 445 - Healthcare 429 - Retail 423 - Education 419 - Government 403 - Telecommunications 403</a:t>
            </a:r>
            <a:endParaRPr lang="en-US" sz="200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623938" y="2020541"/>
            <a:ext cx="5299730" cy="304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Number of attacks per country</a:t>
            </a:r>
            <a:endParaRPr lang="en-US" sz="25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739166" y="2458702"/>
            <a:ext cx="5321664" cy="1123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UK 321 - Brazil 310 - India 308 - France 305 - Japan 305 - Australia 297 - Russia 295 - Germany 291 - USA 287 - China 281</a:t>
            </a:r>
            <a:endParaRPr lang="en-US" sz="200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890428" y="6736461"/>
            <a:ext cx="5368872" cy="59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 Distribution of attacks over the years</a:t>
            </a:r>
            <a:endParaRPr lang="en-US" sz="25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739535" y="7422704"/>
            <a:ext cx="5848799" cy="1123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2015 &gt; 277 - 2016 &gt; 285 - 2017 &gt; 319 - 2018 &gt;  310 - 2019 &gt; 263 - 2020 &gt; 315 - 2021 &gt; 299 - </a:t>
            </a:r>
            <a:endParaRPr lang="en-US" sz="200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2022 &gt; 318 - 2023 &gt; 315 - 2024 &gt; 299</a:t>
            </a:r>
            <a:endParaRPr lang="en-US" sz="200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519171" y="3348082"/>
            <a:ext cx="7849542" cy="2153500"/>
            <a:chOff x="0" y="0"/>
            <a:chExt cx="289765" cy="794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89765" cy="79496"/>
            </a:xfrm>
            <a:custGeom>
              <a:avLst/>
              <a:gdLst/>
              <a:ahLst/>
              <a:cxnLst/>
              <a:rect l="l" t="t" r="r" b="b"/>
              <a:pathLst>
                <a:path w="289765" h="79496">
                  <a:moveTo>
                    <a:pt x="0" y="0"/>
                  </a:moveTo>
                  <a:lnTo>
                    <a:pt x="289765" y="0"/>
                  </a:lnTo>
                  <a:lnTo>
                    <a:pt x="289765" y="79496"/>
                  </a:lnTo>
                  <a:lnTo>
                    <a:pt x="0" y="79496"/>
                  </a:lnTo>
                  <a:close/>
                </a:path>
              </a:pathLst>
            </a:custGeom>
            <a:solidFill>
              <a:srgbClr val="2323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89765" cy="117596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19171" y="6073082"/>
            <a:ext cx="7827176" cy="2286821"/>
            <a:chOff x="0" y="0"/>
            <a:chExt cx="288939" cy="8441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88939" cy="84418"/>
            </a:xfrm>
            <a:custGeom>
              <a:avLst/>
              <a:gdLst/>
              <a:ahLst/>
              <a:cxnLst/>
              <a:rect l="l" t="t" r="r" b="b"/>
              <a:pathLst>
                <a:path w="288939" h="84418">
                  <a:moveTo>
                    <a:pt x="0" y="0"/>
                  </a:moveTo>
                  <a:lnTo>
                    <a:pt x="288939" y="0"/>
                  </a:lnTo>
                  <a:lnTo>
                    <a:pt x="288939" y="84418"/>
                  </a:lnTo>
                  <a:lnTo>
                    <a:pt x="0" y="84418"/>
                  </a:lnTo>
                  <a:close/>
                </a:path>
              </a:pathLst>
            </a:custGeom>
            <a:solidFill>
              <a:srgbClr val="2323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88939" cy="122518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2" name="Freeform 32"/>
          <p:cNvSpPr/>
          <p:nvPr/>
        </p:nvSpPr>
        <p:spPr>
          <a:xfrm>
            <a:off x="827904" y="3989485"/>
            <a:ext cx="781185" cy="775504"/>
          </a:xfrm>
          <a:custGeom>
            <a:avLst/>
            <a:gdLst/>
            <a:ahLst/>
            <a:cxnLst/>
            <a:rect l="l" t="t" r="r" b="b"/>
            <a:pathLst>
              <a:path w="781185" h="775504">
                <a:moveTo>
                  <a:pt x="0" y="0"/>
                </a:moveTo>
                <a:lnTo>
                  <a:pt x="781185" y="0"/>
                </a:lnTo>
                <a:lnTo>
                  <a:pt x="781185" y="775504"/>
                </a:lnTo>
                <a:lnTo>
                  <a:pt x="0" y="7755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715516" y="6939269"/>
            <a:ext cx="1005961" cy="775504"/>
          </a:xfrm>
          <a:custGeom>
            <a:avLst/>
            <a:gdLst/>
            <a:ahLst/>
            <a:cxnLst/>
            <a:rect l="l" t="t" r="r" b="b"/>
            <a:pathLst>
              <a:path w="1005961" h="775504">
                <a:moveTo>
                  <a:pt x="0" y="0"/>
                </a:moveTo>
                <a:lnTo>
                  <a:pt x="1005961" y="0"/>
                </a:lnTo>
                <a:lnTo>
                  <a:pt x="1005961" y="775504"/>
                </a:lnTo>
                <a:lnTo>
                  <a:pt x="0" y="7755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2147323" y="3596171"/>
            <a:ext cx="5431334" cy="59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The most exploited security vulnerabilities.</a:t>
            </a:r>
            <a:endParaRPr lang="en-US" sz="25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147323" y="4411264"/>
            <a:ext cx="6199023" cy="74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Zero-day 785 - Social Engineering 747</a:t>
            </a:r>
            <a:endParaRPr lang="en-US" sz="200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Unpatched Software 738 -Weak Passwords 730</a:t>
            </a:r>
            <a:endParaRPr lang="en-US" sz="200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2147323" y="6348709"/>
            <a:ext cx="5760776" cy="59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Average resolution time for each type of attack</a:t>
            </a:r>
            <a:endParaRPr lang="en-US" sz="25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124957" y="7124224"/>
            <a:ext cx="6221390" cy="1123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Malware 37 - SQL Injection 36 - </a:t>
            </a:r>
            <a:endParaRPr lang="en-US" sz="200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rPr>
              <a:t>Man-in-the-Middle 36 - Ransomware 36 - Phishing 35 - DDoS 35</a:t>
            </a:r>
            <a:endParaRPr lang="en-US" sz="2000">
              <a:solidFill>
                <a:srgbClr val="FFFFFF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205352"/>
            <a:ext cx="4569382" cy="5743610"/>
            <a:chOff x="0" y="0"/>
            <a:chExt cx="168678" cy="2120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678" cy="212025"/>
            </a:xfrm>
            <a:custGeom>
              <a:avLst/>
              <a:gdLst/>
              <a:ahLst/>
              <a:cxnLst/>
              <a:rect l="l" t="t" r="r" b="b"/>
              <a:pathLst>
                <a:path w="168678" h="212025">
                  <a:moveTo>
                    <a:pt x="0" y="0"/>
                  </a:moveTo>
                  <a:lnTo>
                    <a:pt x="168678" y="0"/>
                  </a:lnTo>
                  <a:lnTo>
                    <a:pt x="168678" y="212025"/>
                  </a:lnTo>
                  <a:lnTo>
                    <a:pt x="0" y="212025"/>
                  </a:lnTo>
                  <a:close/>
                </a:path>
              </a:pathLst>
            </a:custGeom>
            <a:solidFill>
              <a:srgbClr val="2323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8678" cy="250125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216" y="3205352"/>
            <a:ext cx="5029366" cy="5743610"/>
            <a:chOff x="0" y="0"/>
            <a:chExt cx="185658" cy="2120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5658" cy="212025"/>
            </a:xfrm>
            <a:custGeom>
              <a:avLst/>
              <a:gdLst/>
              <a:ahLst/>
              <a:cxnLst/>
              <a:rect l="l" t="t" r="r" b="b"/>
              <a:pathLst>
                <a:path w="185658" h="212025">
                  <a:moveTo>
                    <a:pt x="0" y="0"/>
                  </a:moveTo>
                  <a:lnTo>
                    <a:pt x="185658" y="0"/>
                  </a:lnTo>
                  <a:lnTo>
                    <a:pt x="185658" y="212025"/>
                  </a:lnTo>
                  <a:lnTo>
                    <a:pt x="0" y="212025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5658" cy="250125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467757" y="3205352"/>
            <a:ext cx="4791543" cy="5743610"/>
            <a:chOff x="0" y="0"/>
            <a:chExt cx="176879" cy="2120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6879" cy="212025"/>
            </a:xfrm>
            <a:custGeom>
              <a:avLst/>
              <a:gdLst/>
              <a:ahLst/>
              <a:cxnLst/>
              <a:rect l="l" t="t" r="r" b="b"/>
              <a:pathLst>
                <a:path w="176879" h="212025">
                  <a:moveTo>
                    <a:pt x="0" y="0"/>
                  </a:moveTo>
                  <a:lnTo>
                    <a:pt x="176879" y="0"/>
                  </a:lnTo>
                  <a:lnTo>
                    <a:pt x="176879" y="212025"/>
                  </a:lnTo>
                  <a:lnTo>
                    <a:pt x="0" y="212025"/>
                  </a:lnTo>
                  <a:close/>
                </a:path>
              </a:pathLst>
            </a:custGeom>
            <a:solidFill>
              <a:srgbClr val="23232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76879" cy="250125"/>
            </a:xfrm>
            <a:prstGeom prst="rect">
              <a:avLst/>
            </a:prstGeom>
          </p:spPr>
          <p:txBody>
            <a:bodyPr lIns="362440" tIns="362440" rIns="362440" bIns="36244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 rot="-10792129">
            <a:off x="-5162836" y="743593"/>
            <a:ext cx="9155917" cy="1331770"/>
          </a:xfrm>
          <a:custGeom>
            <a:avLst/>
            <a:gdLst/>
            <a:ahLst/>
            <a:cxnLst/>
            <a:rect l="l" t="t" r="r" b="b"/>
            <a:pathLst>
              <a:path w="9155917" h="1331770">
                <a:moveTo>
                  <a:pt x="0" y="0"/>
                </a:moveTo>
                <a:lnTo>
                  <a:pt x="9155917" y="0"/>
                </a:lnTo>
                <a:lnTo>
                  <a:pt x="9155917" y="1331770"/>
                </a:lnTo>
                <a:lnTo>
                  <a:pt x="0" y="133177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896525" y="404501"/>
            <a:ext cx="8433790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70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CONCLUSIONS &amp;</a:t>
            </a:r>
            <a:endParaRPr lang="en-US" sz="70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067794" y="1361943"/>
            <a:ext cx="10137232" cy="164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7000" b="1">
                <a:solidFill>
                  <a:srgbClr val="37B4B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STRATEGIC RECOMMENDATIONS</a:t>
            </a:r>
            <a:endParaRPr lang="en-US" sz="7000" b="1">
              <a:solidFill>
                <a:srgbClr val="37B4B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012570" y="5675053"/>
            <a:ext cx="514629" cy="0"/>
          </a:xfrm>
          <a:prstGeom prst="line">
            <a:avLst/>
          </a:prstGeom>
          <a:ln w="28575" cap="flat">
            <a:gradFill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2955585" y="3532857"/>
            <a:ext cx="628599" cy="652320"/>
          </a:xfrm>
          <a:custGeom>
            <a:avLst/>
            <a:gdLst/>
            <a:ahLst/>
            <a:cxnLst/>
            <a:rect l="l" t="t" r="r" b="b"/>
            <a:pathLst>
              <a:path w="628599" h="652320">
                <a:moveTo>
                  <a:pt x="0" y="0"/>
                </a:moveTo>
                <a:lnTo>
                  <a:pt x="628599" y="0"/>
                </a:lnTo>
                <a:lnTo>
                  <a:pt x="628599" y="652320"/>
                </a:lnTo>
                <a:lnTo>
                  <a:pt x="0" y="652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259929" y="4661081"/>
            <a:ext cx="4019912" cy="876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2500" b="1" dirty="0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IMMEDIATE ACTIONS (0-6 MONTHS):</a:t>
            </a:r>
            <a:endParaRPr lang="en-US" sz="2500" b="1" dirty="0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ctr">
              <a:lnSpc>
                <a:spcPts val="2250"/>
              </a:lnSpc>
            </a:pPr>
            <a:endParaRPr lang="en-US" sz="2500" b="1" dirty="0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96244" y="5984165"/>
            <a:ext cx="4401838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ctr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training, patching, insider threat checks</a:t>
            </a:r>
            <a:endParaRPr lang="en-US" sz="2800" dirty="0">
              <a:solidFill>
                <a:schemeClr val="bg1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705479" y="5660766"/>
            <a:ext cx="514629" cy="0"/>
          </a:xfrm>
          <a:prstGeom prst="line">
            <a:avLst/>
          </a:prstGeom>
          <a:ln w="28575" cap="flat">
            <a:solidFill>
              <a:srgbClr val="23232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8567789" y="3532857"/>
            <a:ext cx="652320" cy="652320"/>
          </a:xfrm>
          <a:custGeom>
            <a:avLst/>
            <a:gdLst/>
            <a:ahLst/>
            <a:cxnLst/>
            <a:rect l="l" t="t" r="r" b="b"/>
            <a:pathLst>
              <a:path w="652320" h="652320">
                <a:moveTo>
                  <a:pt x="0" y="0"/>
                </a:moveTo>
                <a:lnTo>
                  <a:pt x="652320" y="0"/>
                </a:lnTo>
                <a:lnTo>
                  <a:pt x="652320" y="652320"/>
                </a:lnTo>
                <a:lnTo>
                  <a:pt x="0" y="6523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6419216" y="4552940"/>
            <a:ext cx="5029366" cy="59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MEDIUM-TERM INITIATIVES (6-12 MONTHS):</a:t>
            </a:r>
            <a:endParaRPr lang="en-US" sz="25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620339" y="5984165"/>
            <a:ext cx="4547219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ctr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AI detection, zero-trust roadmap, better incident response</a:t>
            </a:r>
            <a:endParaRPr lang="en-US" sz="2800" dirty="0">
              <a:solidFill>
                <a:schemeClr val="bg1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14606214" y="5646478"/>
            <a:ext cx="514629" cy="0"/>
          </a:xfrm>
          <a:prstGeom prst="line">
            <a:avLst/>
          </a:prstGeom>
          <a:ln w="28575" cap="flat">
            <a:gradFill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4690397" y="3532857"/>
            <a:ext cx="381529" cy="652320"/>
          </a:xfrm>
          <a:custGeom>
            <a:avLst/>
            <a:gdLst/>
            <a:ahLst/>
            <a:cxnLst/>
            <a:rect l="l" t="t" r="r" b="b"/>
            <a:pathLst>
              <a:path w="381529" h="652320">
                <a:moveTo>
                  <a:pt x="0" y="0"/>
                </a:moveTo>
                <a:lnTo>
                  <a:pt x="381529" y="0"/>
                </a:lnTo>
                <a:lnTo>
                  <a:pt x="381529" y="652320"/>
                </a:lnTo>
                <a:lnTo>
                  <a:pt x="0" y="6523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2977473" y="4661081"/>
            <a:ext cx="3892312" cy="59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25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LONG-TERM STRATEGY (12+ MONTHS):</a:t>
            </a:r>
            <a:endParaRPr lang="en-US" sz="25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467757" y="5984165"/>
            <a:ext cx="4605412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ctr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predictive models, risk quantification, continuous improvement</a:t>
            </a:r>
            <a:endParaRPr lang="en-US" sz="2800" dirty="0">
              <a:solidFill>
                <a:schemeClr val="bg1"/>
              </a:solidFill>
              <a:latin typeface="Montserrat" panose="0000050000000000000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675277" cy="3798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5277" cy="379844"/>
            </a:xfrm>
            <a:custGeom>
              <a:avLst/>
              <a:gdLst/>
              <a:ahLst/>
              <a:cxnLst/>
              <a:rect l="l" t="t" r="r" b="b"/>
              <a:pathLst>
                <a:path w="675277" h="379844">
                  <a:moveTo>
                    <a:pt x="0" y="0"/>
                  </a:moveTo>
                  <a:lnTo>
                    <a:pt x="675277" y="0"/>
                  </a:lnTo>
                  <a:lnTo>
                    <a:pt x="675277" y="379844"/>
                  </a:lnTo>
                  <a:lnTo>
                    <a:pt x="0" y="379844"/>
                  </a:lnTo>
                  <a:close/>
                </a:path>
              </a:pathLst>
            </a:custGeom>
            <a:solidFill>
              <a:srgbClr val="02060F">
                <a:alpha val="4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75277" cy="417944"/>
            </a:xfrm>
            <a:prstGeom prst="rect">
              <a:avLst/>
            </a:prstGeom>
          </p:spPr>
          <p:txBody>
            <a:bodyPr lIns="362344" tIns="362344" rIns="362344" bIns="362344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4186088"/>
            <a:ext cx="8115300" cy="4370324"/>
            <a:chOff x="0" y="0"/>
            <a:chExt cx="299654" cy="1613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9654" cy="161373"/>
            </a:xfrm>
            <a:custGeom>
              <a:avLst/>
              <a:gdLst/>
              <a:ahLst/>
              <a:cxnLst/>
              <a:rect l="l" t="t" r="r" b="b"/>
              <a:pathLst>
                <a:path w="299654" h="161373">
                  <a:moveTo>
                    <a:pt x="0" y="0"/>
                  </a:moveTo>
                  <a:lnTo>
                    <a:pt x="299654" y="0"/>
                  </a:lnTo>
                  <a:lnTo>
                    <a:pt x="299654" y="161373"/>
                  </a:lnTo>
                  <a:lnTo>
                    <a:pt x="0" y="161373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99654" cy="199473"/>
            </a:xfrm>
            <a:prstGeom prst="rect">
              <a:avLst/>
            </a:prstGeom>
          </p:spPr>
          <p:txBody>
            <a:bodyPr lIns="362344" tIns="362344" rIns="362344" bIns="362344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 rot="-10799121">
            <a:off x="9510694" y="238"/>
            <a:ext cx="8776185" cy="8776185"/>
          </a:xfrm>
          <a:custGeom>
            <a:avLst/>
            <a:gdLst/>
            <a:ahLst/>
            <a:cxnLst/>
            <a:rect l="l" t="t" r="r" b="b"/>
            <a:pathLst>
              <a:path w="8776185" h="8776185">
                <a:moveTo>
                  <a:pt x="0" y="0"/>
                </a:moveTo>
                <a:lnTo>
                  <a:pt x="8776185" y="0"/>
                </a:lnTo>
                <a:lnTo>
                  <a:pt x="8776185" y="8776185"/>
                </a:lnTo>
                <a:lnTo>
                  <a:pt x="0" y="8776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28700" y="1228725"/>
            <a:ext cx="8851972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7000" b="1" dirty="0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DISCUSSION &amp;</a:t>
            </a:r>
            <a:endParaRPr lang="en-US" sz="7000" b="1" dirty="0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2228718"/>
            <a:ext cx="8851972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7000" b="1" dirty="0">
                <a:solidFill>
                  <a:srgbClr val="37B4B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FUTURE VISION</a:t>
            </a:r>
            <a:endParaRPr lang="en-US" sz="7000" b="1" dirty="0">
              <a:solidFill>
                <a:srgbClr val="37B4B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55664" y="4491412"/>
            <a:ext cx="7492285" cy="6345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8665" lvl="1" indent="-457200">
              <a:lnSpc>
                <a:spcPts val="378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bg1"/>
                </a:solidFill>
              </a:rPr>
              <a:t> Human factor remains the biggest vulnerability</a:t>
            </a:r>
            <a:endParaRPr lang="ar-EG" sz="3200" dirty="0">
              <a:solidFill>
                <a:schemeClr val="bg1"/>
              </a:solidFill>
            </a:endParaRPr>
          </a:p>
          <a:p>
            <a:pPr marL="748665" lvl="1" indent="-457200">
              <a:lnSpc>
                <a:spcPts val="378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ar-EG" sz="3200" dirty="0">
              <a:solidFill>
                <a:schemeClr val="bg1"/>
              </a:solidFill>
            </a:endParaRPr>
          </a:p>
          <a:p>
            <a:pPr marL="748665" lvl="1" indent="-457200">
              <a:lnSpc>
                <a:spcPts val="378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bg1"/>
                </a:solidFill>
              </a:rPr>
              <a:t>AI will significantly improve detection &amp; response</a:t>
            </a:r>
            <a:endParaRPr lang="ar-EG" sz="3200" dirty="0">
              <a:solidFill>
                <a:schemeClr val="bg1"/>
              </a:solidFill>
            </a:endParaRPr>
          </a:p>
          <a:p>
            <a:pPr marL="748665" lvl="1" indent="-457200">
              <a:lnSpc>
                <a:spcPts val="378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ar-EG" sz="3200" dirty="0">
              <a:solidFill>
                <a:schemeClr val="bg1"/>
              </a:solidFill>
            </a:endParaRPr>
          </a:p>
          <a:p>
            <a:pPr marL="748665" lvl="1" indent="-457200">
              <a:lnSpc>
                <a:spcPts val="378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bg1"/>
                </a:solidFill>
              </a:rPr>
              <a:t>Data-driven security = stronger strategies</a:t>
            </a:r>
            <a:br>
              <a:rPr lang="ar-EG" sz="3200" dirty="0">
                <a:solidFill>
                  <a:schemeClr val="bg1"/>
                </a:solidFill>
              </a:rPr>
            </a:br>
            <a:br>
              <a:rPr lang="en-US" sz="3200" dirty="0">
                <a:solidFill>
                  <a:schemeClr val="bg1"/>
                </a:solidFill>
              </a:rPr>
            </a:br>
            <a:br>
              <a:rPr lang="ar-EG" sz="3200" dirty="0">
                <a:solidFill>
                  <a:schemeClr val="bg1"/>
                </a:solidFill>
              </a:rPr>
            </a:br>
            <a:br>
              <a:rPr lang="ar-EG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 </a:t>
            </a:r>
            <a:br>
              <a:rPr lang="en-US" sz="3200" dirty="0">
                <a:solidFill>
                  <a:schemeClr val="bg1"/>
                </a:solidFill>
              </a:rPr>
            </a:br>
            <a:endParaRPr lang="en-US" sz="4000" dirty="0">
              <a:solidFill>
                <a:schemeClr val="bg1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0" y="0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-38100"/>
            <a:ext cx="18288000" cy="10287000"/>
            <a:chOff x="0" y="0"/>
            <a:chExt cx="675277" cy="37984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75277" cy="379844"/>
            </a:xfrm>
            <a:custGeom>
              <a:avLst/>
              <a:gdLst/>
              <a:ahLst/>
              <a:cxnLst/>
              <a:rect l="l" t="t" r="r" b="b"/>
              <a:pathLst>
                <a:path w="675277" h="379844">
                  <a:moveTo>
                    <a:pt x="0" y="0"/>
                  </a:moveTo>
                  <a:lnTo>
                    <a:pt x="675277" y="0"/>
                  </a:lnTo>
                  <a:lnTo>
                    <a:pt x="675277" y="379844"/>
                  </a:lnTo>
                  <a:lnTo>
                    <a:pt x="0" y="379844"/>
                  </a:lnTo>
                  <a:close/>
                </a:path>
              </a:pathLst>
            </a:custGeom>
            <a:solidFill>
              <a:srgbClr val="02060F">
                <a:alpha val="4000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75277" cy="417944"/>
            </a:xfrm>
            <a:prstGeom prst="rect">
              <a:avLst/>
            </a:prstGeom>
          </p:spPr>
          <p:txBody>
            <a:bodyPr lIns="362344" tIns="362344" rIns="362344" bIns="362344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4186088"/>
            <a:ext cx="8115300" cy="4370324"/>
            <a:chOff x="0" y="0"/>
            <a:chExt cx="299654" cy="16137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99654" cy="161373"/>
            </a:xfrm>
            <a:custGeom>
              <a:avLst/>
              <a:gdLst/>
              <a:ahLst/>
              <a:cxnLst/>
              <a:rect l="l" t="t" r="r" b="b"/>
              <a:pathLst>
                <a:path w="299654" h="161373">
                  <a:moveTo>
                    <a:pt x="0" y="0"/>
                  </a:moveTo>
                  <a:lnTo>
                    <a:pt x="299654" y="0"/>
                  </a:lnTo>
                  <a:lnTo>
                    <a:pt x="299654" y="161373"/>
                  </a:lnTo>
                  <a:lnTo>
                    <a:pt x="0" y="161373"/>
                  </a:lnTo>
                  <a:close/>
                </a:path>
              </a:pathLst>
            </a:custGeom>
            <a:gradFill rotWithShape="1">
              <a:gsLst>
                <a:gs pos="0">
                  <a:srgbClr val="175DB7">
                    <a:alpha val="100000"/>
                  </a:srgbClr>
                </a:gs>
                <a:gs pos="100000">
                  <a:srgbClr val="13BFA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99654" cy="199473"/>
            </a:xfrm>
            <a:prstGeom prst="rect">
              <a:avLst/>
            </a:prstGeom>
          </p:spPr>
          <p:txBody>
            <a:bodyPr lIns="362344" tIns="362344" rIns="362344" bIns="362344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 rot="-10799121">
            <a:off x="9510694" y="238"/>
            <a:ext cx="8776185" cy="8776185"/>
          </a:xfrm>
          <a:custGeom>
            <a:avLst/>
            <a:gdLst/>
            <a:ahLst/>
            <a:cxnLst/>
            <a:rect l="l" t="t" r="r" b="b"/>
            <a:pathLst>
              <a:path w="8776185" h="8776185">
                <a:moveTo>
                  <a:pt x="0" y="0"/>
                </a:moveTo>
                <a:lnTo>
                  <a:pt x="8776185" y="0"/>
                </a:lnTo>
                <a:lnTo>
                  <a:pt x="8776185" y="8776185"/>
                </a:lnTo>
                <a:lnTo>
                  <a:pt x="0" y="87761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255664" y="4491412"/>
            <a:ext cx="7492285" cy="4873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8665" lvl="1" indent="-457200">
              <a:lnSpc>
                <a:spcPts val="378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bg1"/>
                </a:solidFill>
              </a:rPr>
              <a:t>Predictive models for forecasting threats</a:t>
            </a:r>
            <a:endParaRPr lang="ar-EG" sz="3200" dirty="0">
              <a:solidFill>
                <a:schemeClr val="bg1"/>
              </a:solidFill>
            </a:endParaRPr>
          </a:p>
          <a:p>
            <a:pPr marL="748665" lvl="1" indent="-457200">
              <a:lnSpc>
                <a:spcPts val="378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ar-EG" sz="3200" dirty="0">
              <a:solidFill>
                <a:schemeClr val="bg1"/>
              </a:solidFill>
            </a:endParaRPr>
          </a:p>
          <a:p>
            <a:pPr marL="748665" lvl="1" indent="-457200">
              <a:lnSpc>
                <a:spcPts val="378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bg1"/>
                </a:solidFill>
              </a:rPr>
              <a:t>Real-time dashboards for monitoring</a:t>
            </a:r>
            <a:endParaRPr lang="ar-EG" sz="3200" dirty="0">
              <a:solidFill>
                <a:schemeClr val="bg1"/>
              </a:solidFill>
            </a:endParaRPr>
          </a:p>
          <a:p>
            <a:pPr marL="748665" lvl="1" indent="-457200">
              <a:lnSpc>
                <a:spcPts val="378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ar-EG" sz="3200" dirty="0">
              <a:solidFill>
                <a:schemeClr val="bg1"/>
              </a:solidFill>
            </a:endParaRPr>
          </a:p>
          <a:p>
            <a:pPr marL="748665" lvl="1" indent="-457200">
              <a:lnSpc>
                <a:spcPts val="378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bg1"/>
                </a:solidFill>
              </a:rPr>
              <a:t>Industry-specific benchmarks</a:t>
            </a:r>
            <a:endParaRPr lang="ar-EG" sz="3200" dirty="0">
              <a:solidFill>
                <a:schemeClr val="bg1"/>
              </a:solidFill>
            </a:endParaRPr>
          </a:p>
          <a:p>
            <a:pPr marL="748665" lvl="1" indent="-457200">
              <a:lnSpc>
                <a:spcPts val="378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endParaRPr lang="ar-EG" sz="3200" dirty="0">
              <a:solidFill>
                <a:schemeClr val="bg1"/>
              </a:solidFill>
            </a:endParaRPr>
          </a:p>
          <a:p>
            <a:pPr marL="748665" lvl="1" indent="-457200">
              <a:lnSpc>
                <a:spcPts val="378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sz="3200" dirty="0">
                <a:solidFill>
                  <a:schemeClr val="bg1"/>
                </a:solidFill>
              </a:rPr>
              <a:t>Self-learning defense systems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    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    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    </a:t>
            </a:r>
            <a:endParaRPr lang="en-US" sz="6000" dirty="0">
              <a:solidFill>
                <a:schemeClr val="bg1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14" name="TextBox 11"/>
          <p:cNvSpPr txBox="1"/>
          <p:nvPr/>
        </p:nvSpPr>
        <p:spPr>
          <a:xfrm>
            <a:off x="1028700" y="1228725"/>
            <a:ext cx="8851972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7000" b="1" dirty="0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DISCUSSION &amp;</a:t>
            </a:r>
            <a:endParaRPr lang="en-US" sz="7000" b="1" dirty="0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15" name="TextBox 12"/>
          <p:cNvSpPr txBox="1"/>
          <p:nvPr/>
        </p:nvSpPr>
        <p:spPr>
          <a:xfrm>
            <a:off x="1028700" y="2228718"/>
            <a:ext cx="8851972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7000" b="1" dirty="0">
                <a:solidFill>
                  <a:srgbClr val="37B4B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FUTURE GOALS</a:t>
            </a:r>
            <a:endParaRPr lang="en-US" sz="7000" b="1" dirty="0">
              <a:solidFill>
                <a:srgbClr val="37B4B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86254" y="4589096"/>
            <a:ext cx="6715492" cy="1451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95"/>
              </a:lnSpc>
            </a:pPr>
            <a:r>
              <a:rPr lang="en-US" sz="11880" b="1">
                <a:solidFill>
                  <a:srgbClr val="37B4BE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THANKS</a:t>
            </a:r>
            <a:endParaRPr lang="en-US" sz="11880" b="1">
              <a:solidFill>
                <a:srgbClr val="37B4BE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  <p:sp>
        <p:nvSpPr>
          <p:cNvPr id="3" name="Freeform 3"/>
          <p:cNvSpPr/>
          <p:nvPr/>
        </p:nvSpPr>
        <p:spPr>
          <a:xfrm rot="-10800000">
            <a:off x="0" y="9015928"/>
            <a:ext cx="6385195" cy="928756"/>
          </a:xfrm>
          <a:custGeom>
            <a:avLst/>
            <a:gdLst/>
            <a:ahLst/>
            <a:cxnLst/>
            <a:rect l="l" t="t" r="r" b="b"/>
            <a:pathLst>
              <a:path w="6385195" h="928756">
                <a:moveTo>
                  <a:pt x="0" y="0"/>
                </a:moveTo>
                <a:lnTo>
                  <a:pt x="6385195" y="0"/>
                </a:lnTo>
                <a:lnTo>
                  <a:pt x="6385195" y="928755"/>
                </a:lnTo>
                <a:lnTo>
                  <a:pt x="0" y="92875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1902805" y="99944"/>
            <a:ext cx="6385195" cy="928756"/>
          </a:xfrm>
          <a:custGeom>
            <a:avLst/>
            <a:gdLst/>
            <a:ahLst/>
            <a:cxnLst/>
            <a:rect l="l" t="t" r="r" b="b"/>
            <a:pathLst>
              <a:path w="6385195" h="928756">
                <a:moveTo>
                  <a:pt x="0" y="0"/>
                </a:moveTo>
                <a:lnTo>
                  <a:pt x="6385195" y="0"/>
                </a:lnTo>
                <a:lnTo>
                  <a:pt x="6385195" y="928756"/>
                </a:lnTo>
                <a:lnTo>
                  <a:pt x="0" y="92875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2041132" y="8887398"/>
            <a:ext cx="7867453" cy="105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30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Prepared by: Asmaa Mostafa</a:t>
            </a:r>
            <a:endParaRPr lang="en-US" sz="30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700"/>
              </a:lnSpc>
            </a:pPr>
            <a:endParaRPr lang="en-US" sz="30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  <a:p>
            <a:pPr algn="l">
              <a:lnSpc>
                <a:spcPts val="2700"/>
              </a:lnSpc>
            </a:pPr>
            <a:r>
              <a:rPr lang="en-US" sz="3000" b="1">
                <a:solidFill>
                  <a:srgbClr val="FFFFFF"/>
                </a:solidFill>
                <a:latin typeface="Montserrat Bold" panose="00000800000000000000"/>
                <a:ea typeface="Montserrat Bold" panose="00000800000000000000"/>
                <a:cs typeface="Montserrat Bold" panose="00000800000000000000"/>
                <a:sym typeface="Montserrat Bold" panose="00000800000000000000"/>
              </a:rPr>
              <a:t>Supervisor: Eng/ Dina Mohsen</a:t>
            </a:r>
            <a:endParaRPr lang="en-US" sz="3000" b="1">
              <a:solidFill>
                <a:srgbClr val="FFFFFF"/>
              </a:solidFill>
              <a:latin typeface="Montserrat Bold" panose="00000800000000000000"/>
              <a:ea typeface="Montserrat Bold" panose="00000800000000000000"/>
              <a:cs typeface="Montserrat Bold" panose="00000800000000000000"/>
              <a:sym typeface="Montserrat Bold" panose="000008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2782</Words>
  <Application>WPS Presentation</Application>
  <PresentationFormat>Custom</PresentationFormat>
  <Paragraphs>154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Montserrat Bold</vt:lpstr>
      <vt:lpstr>Montserrat</vt:lpstr>
      <vt:lpstr>Montserrat</vt:lpstr>
      <vt:lpstr>Open Sans</vt:lpstr>
      <vt:lpstr>Calibri</vt:lpstr>
      <vt:lpstr>Microsoft YaHei</vt:lpstr>
      <vt:lpstr>Arial Unicode MS</vt:lpstr>
      <vt:lpstr>Aldhabi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Cybersecurity Threat Analysis</dc:title>
  <dc:creator>Mohamed Saber</dc:creator>
  <cp:lastModifiedBy>Asmaa Mostafa</cp:lastModifiedBy>
  <cp:revision>3</cp:revision>
  <dcterms:created xsi:type="dcterms:W3CDTF">2006-08-16T00:00:00Z</dcterms:created>
  <dcterms:modified xsi:type="dcterms:W3CDTF">2025-09-26T11:53:57Z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A9819034856542478816DC4718E89CE4_12</vt:lpwstr>
  </property>
  <property fmtid="{D5CDD505-2E9C-101B-9397-08002B2CF9AE}" pid="3" name="KSOProductBuildVer">
    <vt:lpwstr>1033-12.2.0.22549</vt:lpwstr>
  </property>
</Properties>
</file>